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esar-aaron-llms.streamlit.app" TargetMode="External"/><Relationship Id="rId3" Type="http://schemas.openxmlformats.org/officeDocument/2006/relationships/hyperlink" Target="https://github.com/0x4aron/cp1-dashboard-llm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06840" y="-1097280"/>
            <a:ext cx="4846320" cy="4846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343400"/>
            <a:ext cx="3291840" cy="32918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03504"/>
            <a:ext cx="80467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93C5FD"/>
                </a:solidFill>
                <a:latin typeface="Aptos"/>
              </a:defRPr>
            </a:pPr>
            <a:r>
              <a:t>CP1 · DATA SCIENCE AND STATISTICAL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261872"/>
            <a:ext cx="8778240" cy="16002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Desempenho e eficiência</a:t>
            </a:r>
            <a:br/>
            <a:r>
              <a:t>de LLMs open-weight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804672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800" b="0">
                <a:solidFill>
                  <a:srgbClr val="DCE8FB"/>
                </a:solidFill>
                <a:latin typeface="Aptos"/>
              </a:defRPr>
            </a:pPr>
            <a:r>
              <a:t>Um estudo de mercado para aplicações de dados e IA no setor financeiro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892040"/>
            <a:ext cx="6629400" cy="1051560"/>
          </a:xfrm>
          <a:prstGeom prst="roundRect">
            <a:avLst/>
          </a:prstGeom>
          <a:solidFill>
            <a:srgbClr val="132A53"/>
          </a:solidFill>
          <a:ln w="12700">
            <a:solidFill>
              <a:srgbClr val="31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5138928"/>
            <a:ext cx="402336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César Aaron Herrera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5532120"/>
            <a:ext cx="56692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Aptos"/>
              </a:defRPr>
            </a:pPr>
            <a:r>
              <a:t>Turma 2ESPH  ·  RM 565398  ·  25/08/2026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CONTEXTO PROFISSIONAL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88136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220"/>
                </a:solidFill>
                <a:latin typeface="Aptos"/>
              </a:defRPr>
            </a:pPr>
            <a:r>
              <a:t>Por que este tema conversa com meu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47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3703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74519"/>
            <a:ext cx="3154680" cy="33832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172033"/>
                </a:solidFill>
                <a:latin typeface="Aptos"/>
              </a:defRPr>
            </a:pPr>
            <a:r>
              <a:rPr b="1">
                <a:solidFill>
                  <a:srgbClr val="2563EB"/>
                </a:solidFill>
              </a:rPr>
              <a:t>Objetivo. </a:t>
            </a:r>
            <a:r>
              <a:rPr>
                <a:solidFill>
                  <a:srgbClr val="172033"/>
                </a:solidFill>
              </a:rPr>
              <a:t>Atuar com engenharia de dados e aplicações de LLMs, com interesse no setor financeiro.</a:t>
            </a:r>
          </a:p>
          <a:p>
            <a:pPr>
              <a:spcAft>
                <a:spcPts val="1600"/>
              </a:spcAft>
              <a:defRPr sz="1700">
                <a:solidFill>
                  <a:srgbClr val="172033"/>
                </a:solidFill>
                <a:latin typeface="Aptos"/>
              </a:defRPr>
            </a:pPr>
            <a:r>
              <a:rPr b="1">
                <a:solidFill>
                  <a:srgbClr val="2563EB"/>
                </a:solidFill>
              </a:rPr>
              <a:t>Problema real. </a:t>
            </a:r>
            <a:r>
              <a:rPr>
                <a:solidFill>
                  <a:srgbClr val="172033"/>
                </a:solidFill>
              </a:rPr>
              <a:t>Escolher um modelo exige comparar qualidade, porte, licença e recursos de infraestrutura.</a:t>
            </a:r>
          </a:p>
          <a:p>
            <a:pPr>
              <a:spcAft>
                <a:spcPts val="1600"/>
              </a:spcAft>
              <a:defRPr sz="1700">
                <a:solidFill>
                  <a:srgbClr val="172033"/>
                </a:solidFill>
                <a:latin typeface="Aptos"/>
              </a:defRPr>
            </a:pPr>
            <a:r>
              <a:rPr b="1">
                <a:solidFill>
                  <a:srgbClr val="2563EB"/>
                </a:solidFill>
              </a:rPr>
              <a:t>Conexão. </a:t>
            </a:r>
            <a:r>
              <a:rPr>
                <a:solidFill>
                  <a:srgbClr val="172033"/>
                </a:solidFill>
              </a:rPr>
              <a:t>A análise exercita decisões técnicas próximas das que pretendo apoiar profissionalmente.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554480"/>
            <a:ext cx="706831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board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775" y="1700784"/>
            <a:ext cx="6083320" cy="42245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6528816"/>
            <a:ext cx="11018520" cy="9144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6583680"/>
            <a:ext cx="548640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475"/>
                </a:solidFill>
                <a:latin typeface="Aptos"/>
              </a:defRPr>
            </a:pPr>
            <a:r>
              <a:t>César Aaron Herrera · 2ESPH · RM 565398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583680"/>
            <a:ext cx="51663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0">
                <a:solidFill>
                  <a:srgbClr val="5B6475"/>
                </a:solidFill>
                <a:latin typeface="Aptos"/>
              </a:defRPr>
            </a:pPr>
            <a:r>
              <a:t>CP1 · Data Science and Statistical Computing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PERGUNTA DE ANÁLISE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88136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220"/>
                </a:solidFill>
                <a:latin typeface="Aptos"/>
              </a:defRPr>
            </a:pPr>
            <a:r>
              <a:t>Uma decisão orientada a eficiência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47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54480"/>
            <a:ext cx="10771632" cy="117043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FE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01368"/>
            <a:ext cx="10168128" cy="6217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defRPr sz="2200" b="1">
                <a:solidFill>
                  <a:srgbClr val="0B1220"/>
                </a:solidFill>
                <a:latin typeface="Aptos"/>
              </a:defRPr>
            </a:pPr>
            <a:r>
              <a:t>Modelos menores conseguem entregar desempenho competitivo para projetos que precisam equilibrar qualidade e recursos computacionais?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127248"/>
            <a:ext cx="341985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3401568"/>
            <a:ext cx="29260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POPULAÇÃO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767328"/>
            <a:ext cx="2962656" cy="10058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700" b="0">
                <a:solidFill>
                  <a:srgbClr val="172033"/>
                </a:solidFill>
                <a:latin typeface="Aptos"/>
              </a:defRPr>
            </a:pPr>
            <a:r>
              <a:t>Modelos open-weight disponíveis no Open LLM Leaderboard.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3127248"/>
            <a:ext cx="341985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3401568"/>
            <a:ext cx="29260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UNIDADE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3767328"/>
            <a:ext cx="2962656" cy="10058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700" b="0">
                <a:solidFill>
                  <a:srgbClr val="172033"/>
                </a:solidFill>
                <a:latin typeface="Aptos"/>
              </a:defRPr>
            </a:pPr>
            <a:r>
              <a:t>Um modelo avaliado no leaderboard, com seus metadados e benchmarks.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3127248"/>
            <a:ext cx="341985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3401568"/>
            <a:ext cx="29260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RECORTE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3767328"/>
            <a:ext cx="2962656" cy="10058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700" b="0">
                <a:solidFill>
                  <a:srgbClr val="172033"/>
                </a:solidFill>
                <a:latin typeface="Aptos"/>
              </a:defRPr>
            </a:pPr>
            <a:r>
              <a:t>Porte, score médio, licença e seis benchmarks de desempenho.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577840"/>
            <a:ext cx="106984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300" b="0">
                <a:solidFill>
                  <a:srgbClr val="5B6475"/>
                </a:solidFill>
                <a:latin typeface="Aptos"/>
              </a:defRPr>
            </a:pPr>
            <a:r>
              <a:t>O estudo orienta uma triagem inicial; não substitui avaliação em tarefas financeiras reais.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528816"/>
            <a:ext cx="11018520" cy="9144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6583680"/>
            <a:ext cx="548640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475"/>
                </a:solidFill>
                <a:latin typeface="Aptos"/>
              </a:defRPr>
            </a:pPr>
            <a:r>
              <a:t>César Aaron Herrera · 2ESPH · RM 565398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583680"/>
            <a:ext cx="51663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0">
                <a:solidFill>
                  <a:srgbClr val="5B6475"/>
                </a:solidFill>
                <a:latin typeface="Aptos"/>
              </a:defRPr>
            </a:pPr>
            <a:r>
              <a:t>CP1 · Data Science and Statistical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DADOS E PREPARAÇÃO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88136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220"/>
                </a:solidFill>
                <a:latin typeface="Aptos"/>
              </a:defRPr>
            </a:pPr>
            <a:r>
              <a:t>Uma base pública, rastreável e validada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47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00784"/>
            <a:ext cx="257860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83664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1883664"/>
            <a:ext cx="160020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0B1220"/>
                </a:solidFill>
                <a:latin typeface="Aptos"/>
              </a:defRPr>
            </a:pPr>
            <a:r>
              <a:t>Fonte pública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395728"/>
            <a:ext cx="2148840" cy="69494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400" b="0">
                <a:solidFill>
                  <a:srgbClr val="5B6475"/>
                </a:solidFill>
                <a:latin typeface="Aptos"/>
              </a:defRPr>
            </a:pPr>
            <a:r>
              <a:t>Open LLM Leaderboard</a:t>
            </a:r>
            <a:br/>
            <a:r>
              <a:t>Hugging 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9544" y="2395728"/>
            <a:ext cx="310896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900" b="1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700784"/>
            <a:ext cx="257860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883664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952" y="1883664"/>
            <a:ext cx="160020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0B1220"/>
                </a:solidFill>
                <a:latin typeface="Aptos"/>
              </a:defRPr>
            </a:pPr>
            <a:r>
              <a:t>Normalização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395728"/>
            <a:ext cx="2148840" cy="69494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400" b="0">
                <a:solidFill>
                  <a:srgbClr val="5B6475"/>
                </a:solidFill>
                <a:latin typeface="Aptos"/>
              </a:defRPr>
            </a:pPr>
            <a:r>
              <a:t>Tipos, nomes, datas</a:t>
            </a:r>
            <a:br/>
            <a:r>
              <a:t>e campos numéricos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9904" y="2395728"/>
            <a:ext cx="310896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900" b="1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00784"/>
            <a:ext cx="257860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883664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1883664"/>
            <a:ext cx="160020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0B1220"/>
                </a:solidFill>
                <a:latin typeface="Aptos"/>
              </a:defRPr>
            </a:pPr>
            <a:r>
              <a:t>Qualidade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2395728"/>
            <a:ext cx="2148840" cy="69494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400" b="0">
                <a:solidFill>
                  <a:srgbClr val="5B6475"/>
                </a:solidFill>
                <a:latin typeface="Aptos"/>
              </a:defRPr>
            </a:pPr>
            <a:r>
              <a:t>Remoção de porte ou</a:t>
            </a:r>
            <a:br/>
            <a:r>
              <a:t>score inválido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264" y="2395728"/>
            <a:ext cx="310896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900" b="1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700784"/>
            <a:ext cx="257860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19" y="1883664"/>
            <a:ext cx="502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1883664"/>
            <a:ext cx="160020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0B1220"/>
                </a:solidFill>
                <a:latin typeface="Aptos"/>
              </a:defRPr>
            </a:pPr>
            <a:r>
              <a:t>Análise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6608" y="2395728"/>
            <a:ext cx="2148840" cy="69494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400" b="0">
                <a:solidFill>
                  <a:srgbClr val="5B6475"/>
                </a:solidFill>
                <a:latin typeface="Aptos"/>
              </a:defRPr>
            </a:pPr>
            <a:r>
              <a:t>Estatística, gráficos</a:t>
            </a:r>
            <a:br/>
            <a:r>
              <a:t>e interpretações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4114800"/>
            <a:ext cx="23774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261104"/>
            <a:ext cx="2048256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5B6475"/>
                </a:solidFill>
                <a:latin typeface="Aptos"/>
              </a:defRPr>
            </a:pPr>
            <a:r>
              <a:t>REGISTROS BRUTOS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526280"/>
            <a:ext cx="2048256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  <a:latin typeface="Aptos"/>
              </a:defRPr>
            </a:pPr>
            <a:r>
              <a:t>4.576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75887" y="4114800"/>
            <a:ext cx="23774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79" y="4261104"/>
            <a:ext cx="2048256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5B6475"/>
                </a:solidFill>
                <a:latin typeface="Aptos"/>
              </a:defRPr>
            </a:pPr>
            <a:r>
              <a:t>NORMALIZADOS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79" y="4526280"/>
            <a:ext cx="2048256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400" b="1">
                <a:solidFill>
                  <a:srgbClr val="7C3AED"/>
                </a:solidFill>
                <a:latin typeface="Aptos"/>
              </a:defRPr>
            </a:pPr>
            <a:r>
              <a:t>4.497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7648" y="4114800"/>
            <a:ext cx="23774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261104"/>
            <a:ext cx="2048256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5B6475"/>
                </a:solidFill>
                <a:latin typeface="Aptos"/>
              </a:defRPr>
            </a:pPr>
            <a:r>
              <a:t>VÁLIDOS NA ANÁLISE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526280"/>
            <a:ext cx="2048256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400" b="1">
                <a:solidFill>
                  <a:srgbClr val="059669"/>
                </a:solidFill>
                <a:latin typeface="Aptos"/>
              </a:defRPr>
            </a:pPr>
            <a:r>
              <a:t>4.487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79408" y="4114800"/>
            <a:ext cx="21945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4261104"/>
            <a:ext cx="1865376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5B6475"/>
                </a:solidFill>
                <a:latin typeface="Aptos"/>
              </a:defRPr>
            </a:pPr>
            <a:r>
              <a:t>DUPLICIDADES EXATAS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526280"/>
            <a:ext cx="1865376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400" b="1">
                <a:solidFill>
                  <a:srgbClr val="0B1220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623560"/>
            <a:ext cx="10698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300" b="0">
                <a:solidFill>
                  <a:srgbClr val="5B6475"/>
                </a:solidFill>
                <a:latin typeface="Aptos"/>
              </a:defRPr>
            </a:pPr>
            <a:r>
              <a:t>Extração: 25/08/2026 · A cópia local da base acompanha a entrega.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6528816"/>
            <a:ext cx="11018520" cy="9144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" y="6583680"/>
            <a:ext cx="548640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475"/>
                </a:solidFill>
                <a:latin typeface="Aptos"/>
              </a:defRPr>
            </a:pPr>
            <a:r>
              <a:t>César Aaron Herrera · 2ESPH · RM 565398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583680"/>
            <a:ext cx="51663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0">
                <a:solidFill>
                  <a:srgbClr val="5B6475"/>
                </a:solidFill>
                <a:latin typeface="Aptos"/>
              </a:defRPr>
            </a:pPr>
            <a:r>
              <a:t>CP1 · Data Science and Statistical Computing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ESTATÍSTICA DESCRITIVA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88136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220"/>
                </a:solidFill>
                <a:latin typeface="Aptos"/>
              </a:defRPr>
            </a:pPr>
            <a:r>
              <a:t>O retrato do conjunto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47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572768"/>
            <a:ext cx="2084831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719072"/>
            <a:ext cx="17556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5B6475"/>
                </a:solidFill>
                <a:latin typeface="Aptos"/>
              </a:defRPr>
            </a:pPr>
            <a:r>
              <a:t>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984248"/>
            <a:ext cx="1755648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  <a:latin typeface="Aptos"/>
              </a:defRPr>
            </a:pPr>
            <a:r>
              <a:t>4.487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572768"/>
            <a:ext cx="2084831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232" y="1719072"/>
            <a:ext cx="17556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5B6475"/>
                </a:solidFill>
                <a:latin typeface="Aptos"/>
              </a:defRPr>
            </a:pPr>
            <a:r>
              <a:t>MÉDIA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1984248"/>
            <a:ext cx="1755648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400" b="1">
                <a:solidFill>
                  <a:srgbClr val="7C3AED"/>
                </a:solidFill>
                <a:latin typeface="Aptos"/>
              </a:defRPr>
            </a:pPr>
            <a:r>
              <a:t>21,86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8928" y="1572768"/>
            <a:ext cx="2084831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719072"/>
            <a:ext cx="17556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5B6475"/>
                </a:solidFill>
                <a:latin typeface="Aptos"/>
              </a:defRPr>
            </a:pPr>
            <a:r>
              <a:t>MEDIANA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984248"/>
            <a:ext cx="1755648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400" b="1">
                <a:solidFill>
                  <a:srgbClr val="059669"/>
                </a:solidFill>
                <a:latin typeface="Aptos"/>
              </a:defRPr>
            </a:pPr>
            <a:r>
              <a:t>22,00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43216" y="1572768"/>
            <a:ext cx="2084831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8" y="1719072"/>
            <a:ext cx="17556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5B6475"/>
                </a:solidFill>
                <a:latin typeface="Aptos"/>
              </a:defRPr>
            </a:pPr>
            <a:r>
              <a:t>DESVIO-PADRÃO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1984248"/>
            <a:ext cx="1755648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  <a:latin typeface="Aptos"/>
              </a:defRPr>
            </a:pPr>
            <a:r>
              <a:t>10,80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47504" y="1572768"/>
            <a:ext cx="2084831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12096" y="1719072"/>
            <a:ext cx="17556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5B6475"/>
                </a:solidFill>
                <a:latin typeface="Aptos"/>
              </a:defRPr>
            </a:pPr>
            <a:r>
              <a:t>MAIOR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12096" y="1984248"/>
            <a:ext cx="1755648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400" b="1">
                <a:solidFill>
                  <a:srgbClr val="7C3AED"/>
                </a:solidFill>
                <a:latin typeface="Aptos"/>
              </a:defRPr>
            </a:pPr>
            <a:r>
              <a:t>52,08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127248"/>
            <a:ext cx="72237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401568"/>
            <a:ext cx="274320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0B1220"/>
                </a:solidFill>
                <a:latin typeface="Aptos"/>
              </a:defRPr>
            </a:pPr>
            <a:r>
              <a:t>Leitura responsável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3840480"/>
            <a:ext cx="6583680" cy="132588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rPr b="1">
                <a:solidFill>
                  <a:srgbClr val="2563EB"/>
                </a:solidFill>
              </a:rPr>
              <a:t>Centro. </a:t>
            </a:r>
            <a:r>
              <a:rPr>
                <a:solidFill>
                  <a:srgbClr val="172033"/>
                </a:solidFill>
              </a:rPr>
              <a:t>Média e mediana diferem apenas 0,14 ponto.</a:t>
            </a:r>
          </a:p>
          <a:p>
            <a:pPr>
              <a:spcAft>
                <a:spcPts val="7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rPr b="1">
                <a:solidFill>
                  <a:srgbClr val="2563EB"/>
                </a:solidFill>
              </a:rPr>
              <a:t>Dispersão. </a:t>
            </a:r>
            <a:r>
              <a:rPr>
                <a:solidFill>
                  <a:srgbClr val="172033"/>
                </a:solidFill>
              </a:rPr>
              <a:t>O desvio-padrão de 10,80 mostra variação relevante entre os modelos.</a:t>
            </a:r>
          </a:p>
          <a:p>
            <a:pPr>
              <a:spcAft>
                <a:spcPts val="7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rPr b="1">
                <a:solidFill>
                  <a:srgbClr val="2563EB"/>
                </a:solidFill>
              </a:rPr>
              <a:t>Cuidado. </a:t>
            </a:r>
            <a:r>
              <a:rPr>
                <a:solidFill>
                  <a:srgbClr val="172033"/>
                </a:solidFill>
              </a:rPr>
              <a:t>O histograma e os gráficos por porte complementam as medidas-resumo.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127248"/>
            <a:ext cx="3246120" cy="23317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8" y="3447288"/>
            <a:ext cx="25603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93C5FD"/>
                </a:solidFill>
                <a:latin typeface="Aptos"/>
              </a:defRPr>
            </a:pPr>
            <a:r>
              <a:t>LÍDER GERAL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822191"/>
            <a:ext cx="2606040" cy="8229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t>calme-3.2-</a:t>
            </a:r>
            <a:br/>
            <a:r>
              <a:t>instruct-78b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2208" y="4828032"/>
            <a:ext cx="24688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DCE8FB"/>
                </a:solidFill>
                <a:latin typeface="Aptos"/>
              </a:defRPr>
            </a:pPr>
            <a:r>
              <a:t>52,08 pontos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528816"/>
            <a:ext cx="11018520" cy="9144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6583680"/>
            <a:ext cx="548640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475"/>
                </a:solidFill>
                <a:latin typeface="Aptos"/>
              </a:defRPr>
            </a:pPr>
            <a:r>
              <a:t>César Aaron Herrera · 2ESPH · RM 565398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583680"/>
            <a:ext cx="51663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0">
                <a:solidFill>
                  <a:srgbClr val="5B6475"/>
                </a:solidFill>
                <a:latin typeface="Aptos"/>
              </a:defRPr>
            </a:pPr>
            <a:r>
              <a:t>CP1 · Data Science and Statistical Computing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PORTE × DESEMPENHO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88136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220"/>
                </a:solidFill>
                <a:latin typeface="Aptos"/>
              </a:defRPr>
            </a:pPr>
            <a:r>
              <a:t>Tendência positiva, mas com exceções relevantes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47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481328"/>
            <a:ext cx="7626096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alysis_cha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70420"/>
            <a:ext cx="7351775" cy="375840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94192" y="1481328"/>
            <a:ext cx="3246120" cy="473659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68512" y="1810512"/>
            <a:ext cx="2688336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93C5FD"/>
                </a:solidFill>
                <a:latin typeface="Aptos"/>
              </a:defRPr>
            </a:pPr>
            <a:r>
              <a:t>CORRELAÇÃO DE PEARSON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2176272"/>
            <a:ext cx="256032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0,43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50224" y="2743200"/>
            <a:ext cx="251460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DCE8FB"/>
                </a:solidFill>
                <a:latin typeface="Aptos"/>
              </a:defRPr>
            </a:pPr>
            <a:r>
              <a:t>associação positiva moderada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8512" y="3566160"/>
            <a:ext cx="25603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93C5FD"/>
                </a:solidFill>
                <a:latin typeface="Aptos"/>
              </a:defRPr>
            </a:pPr>
            <a:r>
              <a:t>MELHOR MODELO ATÉ 15B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0224" y="3931920"/>
            <a:ext cx="2560320" cy="6583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47,09 pontos</a:t>
            </a:r>
            <a:br/>
            <a:r>
              <a:t>com 14,77B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0224" y="5239512"/>
            <a:ext cx="2514600" cy="4389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  <a:latin typeface="Aptos"/>
              </a:defRPr>
            </a:pPr>
            <a:r>
              <a:t>Correlação não implica causalidade.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528816"/>
            <a:ext cx="11018520" cy="9144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6583680"/>
            <a:ext cx="548640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475"/>
                </a:solidFill>
                <a:latin typeface="Aptos"/>
              </a:defRPr>
            </a:pPr>
            <a:r>
              <a:t>César Aaron Herrera · 2ESPH · RM 565398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583680"/>
            <a:ext cx="51663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0">
                <a:solidFill>
                  <a:srgbClr val="5B6475"/>
                </a:solidFill>
                <a:latin typeface="Aptos"/>
              </a:defRPr>
            </a:pPr>
            <a:r>
              <a:t>CP1 · Data Science and Statistical Computing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COMPARAÇÃO DE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88136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220"/>
                </a:solidFill>
                <a:latin typeface="Aptos"/>
              </a:defRPr>
            </a:pPr>
            <a:r>
              <a:t>Os líderes e o trade-off de eficiência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47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444752"/>
            <a:ext cx="51663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alysis_char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314" y="1600200"/>
            <a:ext cx="4312434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89320" y="1444752"/>
            <a:ext cx="565099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484632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0B1220"/>
                </a:solidFill>
                <a:latin typeface="Aptos"/>
              </a:defRPr>
            </a:pPr>
            <a:r>
              <a:t>O que o ranking mostra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2784" y="2395728"/>
            <a:ext cx="4754880" cy="265176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rPr b="1">
                <a:solidFill>
                  <a:srgbClr val="2563EB"/>
                </a:solidFill>
              </a:rPr>
              <a:t>Liderança. </a:t>
            </a:r>
            <a:r>
              <a:rPr>
                <a:solidFill>
                  <a:srgbClr val="172033"/>
                </a:solidFill>
              </a:rPr>
              <a:t>Os maiores scores concentram modelos de grande porte.</a:t>
            </a:r>
          </a:p>
          <a:p>
            <a:pPr>
              <a:spcAft>
                <a:spcPts val="12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rPr b="1">
                <a:solidFill>
                  <a:srgbClr val="2563EB"/>
                </a:solidFill>
              </a:rPr>
              <a:t>Alternativa eficiente. </a:t>
            </a:r>
            <a:r>
              <a:rPr>
                <a:solidFill>
                  <a:srgbClr val="172033"/>
                </a:solidFill>
              </a:rPr>
              <a:t>Há candidatos de até 15B próximos do grupo de alto desempenho.</a:t>
            </a:r>
          </a:p>
          <a:p>
            <a:pPr>
              <a:spcAft>
                <a:spcPts val="12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rPr b="1">
                <a:solidFill>
                  <a:srgbClr val="2563EB"/>
                </a:solidFill>
              </a:rPr>
              <a:t>Decisão. </a:t>
            </a:r>
            <a:r>
              <a:rPr>
                <a:solidFill>
                  <a:srgbClr val="172033"/>
                </a:solidFill>
              </a:rPr>
              <a:t>Score não basta: licença, memória, latência e custo precisam entrar no teste.</a:t>
            </a:r>
          </a:p>
          <a:p>
            <a:pPr>
              <a:spcAft>
                <a:spcPts val="1200"/>
              </a:spcAft>
              <a:defRPr sz="1600">
                <a:solidFill>
                  <a:srgbClr val="172033"/>
                </a:solidFill>
                <a:latin typeface="Aptos"/>
              </a:defRPr>
            </a:pPr>
            <a:r>
              <a:rPr b="1">
                <a:solidFill>
                  <a:srgbClr val="2563EB"/>
                </a:solidFill>
              </a:rPr>
              <a:t>Recomendação. </a:t>
            </a:r>
            <a:r>
              <a:rPr>
                <a:solidFill>
                  <a:srgbClr val="172033"/>
                </a:solidFill>
              </a:rPr>
              <a:t>Começar a triagem pelos melhores modelos compactos e validar em uma tarefa real.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5349240"/>
            <a:ext cx="4663440" cy="53035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FE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5468112"/>
            <a:ext cx="4315968" cy="23774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Aptos"/>
              </a:defRPr>
            </a:pPr>
            <a:r>
              <a:t>Eficiência = qualidade suficiente com menor custo operacional.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528816"/>
            <a:ext cx="11018520" cy="9144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6583680"/>
            <a:ext cx="548640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475"/>
                </a:solidFill>
                <a:latin typeface="Aptos"/>
              </a:defRPr>
            </a:pPr>
            <a:r>
              <a:t>César Aaron Herrera · 2ESPH · RM 565398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583680"/>
            <a:ext cx="51663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0">
                <a:solidFill>
                  <a:srgbClr val="5B6475"/>
                </a:solidFill>
                <a:latin typeface="Aptos"/>
              </a:defRPr>
            </a:pPr>
            <a:r>
              <a:t>CP1 · Data Science and Statistical Computing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88136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220"/>
                </a:solidFill>
                <a:latin typeface="Aptos"/>
              </a:defRPr>
            </a:pPr>
            <a:r>
              <a:t>As métricas medem dimensões diferentes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47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444752"/>
            <a:ext cx="73152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alysis_char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43287"/>
            <a:ext cx="6995160" cy="357609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19872" y="1444752"/>
            <a:ext cx="3520440" cy="47548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1792224"/>
            <a:ext cx="297180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93C5FD"/>
                </a:solidFill>
                <a:latin typeface="Aptos"/>
              </a:defRPr>
            </a:pPr>
            <a:r>
              <a:t>ASSOCIAÇÃO COM O SCORE MÉDIO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359152"/>
            <a:ext cx="16002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MMLU-Pro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2359152"/>
            <a:ext cx="786384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1400" b="1">
                <a:solidFill>
                  <a:srgbClr val="BFDBFE"/>
                </a:solidFill>
                <a:latin typeface="Aptos"/>
              </a:defRPr>
            </a:pPr>
            <a:r>
              <a:t>0,95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2834640"/>
            <a:ext cx="16002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BBH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2834640"/>
            <a:ext cx="786384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1400" b="1">
                <a:solidFill>
                  <a:srgbClr val="BFDBFE"/>
                </a:solidFill>
                <a:latin typeface="Aptos"/>
              </a:defRPr>
            </a:pPr>
            <a:r>
              <a:t>0,94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3310128"/>
            <a:ext cx="16002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Math lvl5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3310128"/>
            <a:ext cx="786384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1400" b="1">
                <a:solidFill>
                  <a:srgbClr val="BFDBFE"/>
                </a:solidFill>
                <a:latin typeface="Aptos"/>
              </a:defRPr>
            </a:pPr>
            <a:r>
              <a:t>0,85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785616"/>
            <a:ext cx="16002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GPQA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3785616"/>
            <a:ext cx="786384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1400" b="1">
                <a:solidFill>
                  <a:srgbClr val="BFDBFE"/>
                </a:solidFill>
                <a:latin typeface="Aptos"/>
              </a:defRPr>
            </a:pPr>
            <a:r>
              <a:t>0,82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4261104"/>
            <a:ext cx="16002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IFEval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4261104"/>
            <a:ext cx="786384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1400" b="1">
                <a:solidFill>
                  <a:srgbClr val="BFDBFE"/>
                </a:solidFill>
                <a:latin typeface="Aptos"/>
              </a:defRPr>
            </a:pPr>
            <a:r>
              <a:t>0,80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4736592"/>
            <a:ext cx="16002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MuSR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4736592"/>
            <a:ext cx="786384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1400" b="1">
                <a:solidFill>
                  <a:srgbClr val="BFDBFE"/>
                </a:solidFill>
                <a:latin typeface="Aptos"/>
              </a:defRPr>
            </a:pPr>
            <a:r>
              <a:t>0,69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5440680"/>
            <a:ext cx="2816352" cy="49377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DCE8FB"/>
                </a:solidFill>
                <a:latin typeface="Aptos"/>
              </a:defRPr>
            </a:pPr>
            <a:r>
              <a:t>Um único benchmark não deve decidir a escolha final.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528816"/>
            <a:ext cx="11018520" cy="9144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" y="6583680"/>
            <a:ext cx="548640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475"/>
                </a:solidFill>
                <a:latin typeface="Aptos"/>
              </a:defRPr>
            </a:pPr>
            <a:r>
              <a:t>César Aaron Herrera · 2ESPH · RM 565398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583680"/>
            <a:ext cx="51663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0">
                <a:solidFill>
                  <a:srgbClr val="5B6475"/>
                </a:solidFill>
                <a:latin typeface="Aptos"/>
              </a:defRPr>
            </a:pPr>
            <a:r>
              <a:t>CP1 · Data Science and Statistical Computing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0467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CONCLUSÕES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88136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220"/>
                </a:solidFill>
                <a:latin typeface="Aptos"/>
              </a:defRPr>
            </a:pPr>
            <a:r>
              <a:t>Resposta à pergunta e recomendação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5B647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481328"/>
            <a:ext cx="3456432" cy="44348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FE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73936"/>
            <a:ext cx="2651760" cy="23774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RESPOSTA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194560"/>
            <a:ext cx="2880360" cy="12344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400" b="1">
                <a:solidFill>
                  <a:srgbClr val="0B1220"/>
                </a:solidFill>
                <a:latin typeface="Aptos"/>
              </a:defRPr>
            </a:pPr>
            <a:r>
              <a:t>Sim — existem modelos menores com desempenho competitivo.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895344"/>
            <a:ext cx="2788920" cy="9144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600" b="0">
                <a:solidFill>
                  <a:srgbClr val="5B6475"/>
                </a:solidFill>
                <a:latin typeface="Aptos"/>
              </a:defRPr>
            </a:pPr>
            <a:r>
              <a:t>Mas a escolha depende da tarefa, da licença e dos recursos disponíveis.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481328"/>
            <a:ext cx="345643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1773936"/>
            <a:ext cx="2651760" cy="23774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Aptos"/>
              </a:defRPr>
            </a:pPr>
            <a:r>
              <a:t>RECOMENDAÇÃO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194560"/>
            <a:ext cx="2852928" cy="1325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300" b="1">
                <a:solidFill>
                  <a:srgbClr val="0B1220"/>
                </a:solidFill>
                <a:latin typeface="Aptos"/>
              </a:defRPr>
            </a:pPr>
            <a:r>
              <a:t>Priorizar candidatos de até 15B com score alto e licença compatível.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858768"/>
            <a:ext cx="2788920" cy="10972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600" b="0">
                <a:solidFill>
                  <a:srgbClr val="5B6475"/>
                </a:solidFill>
                <a:latin typeface="Aptos"/>
              </a:defRPr>
            </a:pPr>
            <a:r>
              <a:t>Depois medir custo, latência, segurança e qualidade em uma tarefa financeira controlada.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481328"/>
            <a:ext cx="3493008" cy="44348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773936"/>
            <a:ext cx="2651760" cy="23774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93C5FD"/>
                </a:solidFill>
                <a:latin typeface="Aptos"/>
              </a:defRPr>
            </a:pPr>
            <a:r>
              <a:t>LIMITAÇÕES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304288"/>
            <a:ext cx="2743200" cy="25603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b="1">
                <a:solidFill>
                  <a:srgbClr val="2563EB"/>
                </a:solidFill>
              </a:rPr>
              <a:t>• </a:t>
            </a:r>
            <a:r>
              <a:rPr>
                <a:solidFill>
                  <a:srgbClr val="FFFFFF"/>
                </a:solidFill>
              </a:rPr>
              <a:t>Benchmarks gerais.</a:t>
            </a:r>
          </a:p>
          <a:p>
            <a:pPr>
              <a:spcAft>
                <a:spcPts val="11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b="1">
                <a:solidFill>
                  <a:srgbClr val="2563EB"/>
                </a:solidFill>
              </a:rPr>
              <a:t>• </a:t>
            </a:r>
            <a:r>
              <a:rPr>
                <a:solidFill>
                  <a:srgbClr val="FFFFFF"/>
                </a:solidFill>
              </a:rPr>
              <a:t>Protocolos distintos.</a:t>
            </a:r>
          </a:p>
          <a:p>
            <a:pPr>
              <a:spcAft>
                <a:spcPts val="11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b="1">
                <a:solidFill>
                  <a:srgbClr val="2563EB"/>
                </a:solidFill>
              </a:rPr>
              <a:t>• </a:t>
            </a:r>
            <a:r>
              <a:rPr>
                <a:solidFill>
                  <a:srgbClr val="FFFFFF"/>
                </a:solidFill>
              </a:rPr>
              <a:t>Dados históricos.</a:t>
            </a:r>
          </a:p>
          <a:p>
            <a:pPr>
              <a:spcAft>
                <a:spcPts val="11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b="1">
                <a:solidFill>
                  <a:srgbClr val="2563EB"/>
                </a:solidFill>
              </a:rPr>
              <a:t>• </a:t>
            </a:r>
            <a:r>
              <a:rPr>
                <a:solidFill>
                  <a:srgbClr val="FFFFFF"/>
                </a:solidFill>
              </a:rPr>
              <a:t>Sem teste financeiro real.</a:t>
            </a:r>
          </a:p>
          <a:p>
            <a:pPr>
              <a:spcAft>
                <a:spcPts val="11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b="1">
                <a:solidFill>
                  <a:srgbClr val="2563EB"/>
                </a:solidFill>
              </a:rPr>
              <a:t>• </a:t>
            </a:r>
            <a:r>
              <a:rPr>
                <a:solidFill>
                  <a:srgbClr val="FFFFFF"/>
                </a:solidFill>
              </a:rPr>
              <a:t>Correlação não causal.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528816"/>
            <a:ext cx="11018520" cy="9144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6583680"/>
            <a:ext cx="548640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5B6475"/>
                </a:solidFill>
                <a:latin typeface="Aptos"/>
              </a:defRPr>
            </a:pPr>
            <a:r>
              <a:t>César Aaron Herrera · 2ESPH · RM 565398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583680"/>
            <a:ext cx="51663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0">
                <a:solidFill>
                  <a:srgbClr val="5B6475"/>
                </a:solidFill>
                <a:latin typeface="Aptos"/>
              </a:defRPr>
            </a:pPr>
            <a:r>
              <a:t>CP1 · Data Science and Statistical Computing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94360"/>
            <a:ext cx="78638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93C5FD"/>
                </a:solidFill>
                <a:latin typeface="Aptos"/>
              </a:defRPr>
            </a:pPr>
            <a:r>
              <a:t>DEMONSTRAÇÃO E ENTREGA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143000"/>
            <a:ext cx="804672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Projeto pronto para avaliação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01952"/>
            <a:ext cx="8778240" cy="43891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700" b="0">
                <a:solidFill>
                  <a:srgbClr val="DCE8FB"/>
                </a:solidFill>
                <a:latin typeface="Aptos"/>
              </a:defRPr>
            </a:pPr>
            <a:r>
              <a:t>Dashboard hospedado, código documentado, base local e apresentação coringa.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761488"/>
            <a:ext cx="7726679" cy="859536"/>
          </a:xfrm>
          <a:prstGeom prst="roundRect">
            <a:avLst/>
          </a:prstGeom>
          <a:solidFill>
            <a:srgbClr val="132A53"/>
          </a:solidFill>
          <a:ln w="12700">
            <a:solidFill>
              <a:srgbClr val="31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999232"/>
            <a:ext cx="7132320" cy="32918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rPr>
                <a:hlinkClick r:id="rId2"/>
              </a:rPr>
              <a:t>cesar-aaron-llms.streamlit.app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822191"/>
            <a:ext cx="7726679" cy="859536"/>
          </a:xfrm>
          <a:prstGeom prst="roundRect">
            <a:avLst/>
          </a:prstGeom>
          <a:solidFill>
            <a:srgbClr val="132A53"/>
          </a:solidFill>
          <a:ln w="12700">
            <a:solidFill>
              <a:srgbClr val="31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059936"/>
            <a:ext cx="7132320" cy="32918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rPr>
                <a:hlinkClick r:id="rId3"/>
              </a:rPr>
              <a:t>github.com/0x4aron/cp1-dashboard-llms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96528" y="1143000"/>
            <a:ext cx="2542032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89136" y="1481328"/>
            <a:ext cx="196596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2057400"/>
            <a:ext cx="29260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2057400"/>
            <a:ext cx="1554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Aptos"/>
              </a:defRPr>
            </a:pPr>
            <a:r>
              <a:t>Link público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660904"/>
            <a:ext cx="29260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2660904"/>
            <a:ext cx="1554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172033"/>
                </a:solidFill>
                <a:latin typeface="Aptos"/>
              </a:defRPr>
            </a:pPr>
            <a:r>
              <a:t>Código-fonte ZIP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3264408"/>
            <a:ext cx="29260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3264408"/>
            <a:ext cx="1554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172033"/>
                </a:solidFill>
                <a:latin typeface="Aptos"/>
              </a:defRPr>
            </a:pPr>
            <a:r>
              <a:t>Base 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867912"/>
            <a:ext cx="29260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3867912"/>
            <a:ext cx="1554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172033"/>
                </a:solidFill>
                <a:latin typeface="Aptos"/>
              </a:defRPr>
            </a:pPr>
            <a:r>
              <a:t>Apresentação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4471416"/>
            <a:ext cx="29260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4471416"/>
            <a:ext cx="1554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172033"/>
                </a:solidFill>
                <a:latin typeface="Aptos"/>
              </a:defRPr>
            </a:pPr>
            <a:r>
              <a:t>Identificação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5001768"/>
            <a:ext cx="1901952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5B6475"/>
                </a:solidFill>
                <a:latin typeface="Aptos"/>
              </a:defRPr>
            </a:pPr>
            <a:r>
              <a:t>César Aaron Herrera</a:t>
            </a:r>
            <a:br/>
            <a:r>
              <a:t>2ESPH · RM 565398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